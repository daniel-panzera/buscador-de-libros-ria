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Quattrocento Sans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K6m0FcLfpFs6QtKAvwNcZ/Dpr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E9AE42-72FA-41D6-BEB2-CC86DEEA201E}">
  <a:tblStyle styleId="{E7E9AE42-72FA-41D6-BEB2-CC86DEEA20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70483d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ed70483d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70483d76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d70483d7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d70483d7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ed70483d7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d70483d7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d70483d7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d70483d76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ed70483d76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d70483d76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ed70483d76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8m3_gngdo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14400" y="2103120"/>
            <a:ext cx="822960" cy="635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240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BookFinder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Buscador de libros sobre la API pública de OpenLibrary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 · búsqueda por título, autor o ISBN · lista de lectura persistente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914400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Vue 3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313432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13432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Vuetify 3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712464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712464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TypeScript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5111496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111496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Pinia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6510528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510528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7909560" y="48006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909560" y="480060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Vitest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Bruno Cruz - </a:t>
            </a:r>
            <a:r>
              <a:rPr lang="en-US" sz="15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Daniel Panzera - Gastón Iriarte</a:t>
            </a:r>
            <a:r>
              <a:rPr lang="en-US" sz="15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·    Lab 2 — Presentación Final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6E4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87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DISEÑO DE INTERFAZ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515355" y="429788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Mockups y vistas - </a:t>
            </a:r>
            <a:r>
              <a:rPr lang="en-US" sz="32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Home / Búsqueda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40080" y="6419063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 l="2656" t="3441" r="5432" b="1511"/>
          <a:stretch/>
        </p:blipFill>
        <p:spPr>
          <a:xfrm>
            <a:off x="1246650" y="1064775"/>
            <a:ext cx="9263100" cy="52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70483d76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d70483d76_0_0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d70483d76_0_0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DISEÑO DE INTERFAZ</a:t>
            </a:r>
            <a:endParaRPr/>
          </a:p>
        </p:txBody>
      </p:sp>
      <p:sp>
        <p:nvSpPr>
          <p:cNvPr id="121" name="Google Shape;121;g3ed70483d76_0_0"/>
          <p:cNvSpPr txBox="1"/>
          <p:nvPr/>
        </p:nvSpPr>
        <p:spPr>
          <a:xfrm>
            <a:off x="2511405" y="429763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Mockups y vistas - Detalle de Libro</a:t>
            </a:r>
            <a:endParaRPr sz="3200" b="1" i="0" u="none" strike="noStrike" cap="none">
              <a:solidFill>
                <a:srgbClr val="EDE0C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EDE0C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g3ed70483d76_0_0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23" name="Google Shape;123;g3ed70483d76_0_0"/>
          <p:cNvSpPr txBox="1"/>
          <p:nvPr/>
        </p:nvSpPr>
        <p:spPr>
          <a:xfrm>
            <a:off x="10424160" y="641908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pic>
        <p:nvPicPr>
          <p:cNvPr id="124" name="Google Shape;124;g3ed70483d76_0_0"/>
          <p:cNvPicPr preferRelativeResize="0"/>
          <p:nvPr/>
        </p:nvPicPr>
        <p:blipFill rotWithShape="1">
          <a:blip r:embed="rId3">
            <a:alphaModFix/>
          </a:blip>
          <a:srcRect l="1266" t="3583" r="2116" b="2140"/>
          <a:stretch/>
        </p:blipFill>
        <p:spPr>
          <a:xfrm>
            <a:off x="640075" y="1048575"/>
            <a:ext cx="10881600" cy="5316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70483d76_0_19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d70483d76_0_19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d70483d76_0_19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DISEÑO DE INTERFAZ</a:t>
            </a:r>
            <a:endParaRPr/>
          </a:p>
        </p:txBody>
      </p:sp>
      <p:sp>
        <p:nvSpPr>
          <p:cNvPr id="132" name="Google Shape;132;g3ed70483d76_0_19"/>
          <p:cNvSpPr txBox="1"/>
          <p:nvPr/>
        </p:nvSpPr>
        <p:spPr>
          <a:xfrm>
            <a:off x="2513780" y="429763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Mockups y vistas - Lista de Lectura</a:t>
            </a:r>
            <a:endParaRPr sz="3200" b="1" i="0" u="none" strike="noStrike" cap="none">
              <a:solidFill>
                <a:srgbClr val="EDE0C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EDE0C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g3ed70483d76_0_19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34" name="Google Shape;134;g3ed70483d76_0_19"/>
          <p:cNvSpPr txBox="1"/>
          <p:nvPr/>
        </p:nvSpPr>
        <p:spPr>
          <a:xfrm>
            <a:off x="10425285" y="6419113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pic>
        <p:nvPicPr>
          <p:cNvPr id="135" name="Google Shape;135;g3ed70483d76_0_19"/>
          <p:cNvPicPr preferRelativeResize="0"/>
          <p:nvPr/>
        </p:nvPicPr>
        <p:blipFill rotWithShape="1">
          <a:blip r:embed="rId3">
            <a:alphaModFix/>
          </a:blip>
          <a:srcRect l="2907" t="7374" r="3311" b="2924"/>
          <a:stretch/>
        </p:blipFill>
        <p:spPr>
          <a:xfrm>
            <a:off x="379038" y="1138438"/>
            <a:ext cx="11433600" cy="5166300"/>
          </a:xfrm>
          <a:prstGeom prst="roundRect">
            <a:avLst>
              <a:gd name="adj" fmla="val 16667"/>
            </a:avLst>
          </a:prstGeom>
          <a:solidFill>
            <a:srgbClr val="12100C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0" y="0"/>
            <a:ext cx="122385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ARQUITECTURA DE COMPONENTES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40080" y="932688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Estructura 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494050" y="1798475"/>
            <a:ext cx="4705500" cy="43908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722655" y="193564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Capas de la SPA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15105" y="243566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Vistas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→ Home · BookDetail · ReadingList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AppNavbar · BookCard · SearchBar · EmptyState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Stores (Pinia)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readingList · selectedBook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Servicios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openLibrary.ts (Axios)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Vue Router — 3 rutas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Persistencia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localStorage (lista de lectura)</a:t>
            </a:r>
            <a:endParaRPr/>
          </a:p>
        </p:txBody>
      </p:sp>
      <p:pic>
        <p:nvPicPr>
          <p:cNvPr id="149" name="Google Shape;14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350" y="921875"/>
            <a:ext cx="6371700" cy="52674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70483d76_0_38"/>
          <p:cNvSpPr/>
          <p:nvPr/>
        </p:nvSpPr>
        <p:spPr>
          <a:xfrm>
            <a:off x="-80325" y="0"/>
            <a:ext cx="12302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d70483d76_0_38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d70483d76_0_38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ARQUITECTURA DE COMPONENTES</a:t>
            </a:r>
            <a:endParaRPr/>
          </a:p>
        </p:txBody>
      </p:sp>
      <p:sp>
        <p:nvSpPr>
          <p:cNvPr id="157" name="Google Shape;157;g3ed70483d76_0_38"/>
          <p:cNvSpPr txBox="1"/>
          <p:nvPr/>
        </p:nvSpPr>
        <p:spPr>
          <a:xfrm>
            <a:off x="640080" y="932688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lujo de navegación</a:t>
            </a:r>
            <a:endParaRPr/>
          </a:p>
        </p:txBody>
      </p:sp>
      <p:sp>
        <p:nvSpPr>
          <p:cNvPr id="158" name="Google Shape;158;g3ed70483d76_0_38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59" name="Google Shape;159;g3ed70483d76_0_38"/>
          <p:cNvSpPr txBox="1"/>
          <p:nvPr/>
        </p:nvSpPr>
        <p:spPr>
          <a:xfrm>
            <a:off x="10424160" y="641908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160" name="Google Shape;160;g3ed70483d76_0_38"/>
          <p:cNvSpPr/>
          <p:nvPr/>
        </p:nvSpPr>
        <p:spPr>
          <a:xfrm>
            <a:off x="337450" y="1755600"/>
            <a:ext cx="5534100" cy="44286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d70483d76_0_38"/>
          <p:cNvSpPr txBox="1"/>
          <p:nvPr/>
        </p:nvSpPr>
        <p:spPr>
          <a:xfrm>
            <a:off x="566047" y="1939228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Flujo de navegación</a:t>
            </a:r>
            <a:endParaRPr/>
          </a:p>
        </p:txBody>
      </p:sp>
      <p:sp>
        <p:nvSpPr>
          <p:cNvPr id="162" name="Google Shape;162;g3ed70483d76_0_38"/>
          <p:cNvSpPr/>
          <p:nvPr/>
        </p:nvSpPr>
        <p:spPr>
          <a:xfrm>
            <a:off x="493922" y="2487125"/>
            <a:ext cx="1508700" cy="1097400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 w="15875" cap="flat" cmpd="sng">
            <a:solidFill>
              <a:srgbClr val="C896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d70483d76_0_38"/>
          <p:cNvSpPr txBox="1"/>
          <p:nvPr/>
        </p:nvSpPr>
        <p:spPr>
          <a:xfrm>
            <a:off x="493922" y="2596853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endParaRPr/>
          </a:p>
        </p:txBody>
      </p:sp>
      <p:sp>
        <p:nvSpPr>
          <p:cNvPr id="164" name="Google Shape;164;g3ed70483d76_0_38"/>
          <p:cNvSpPr txBox="1"/>
          <p:nvPr/>
        </p:nvSpPr>
        <p:spPr>
          <a:xfrm>
            <a:off x="493922" y="2944325"/>
            <a:ext cx="1508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Home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búsqueda</a:t>
            </a:r>
            <a:endParaRPr/>
          </a:p>
        </p:txBody>
      </p:sp>
      <p:sp>
        <p:nvSpPr>
          <p:cNvPr id="165" name="Google Shape;165;g3ed70483d76_0_38"/>
          <p:cNvSpPr/>
          <p:nvPr/>
        </p:nvSpPr>
        <p:spPr>
          <a:xfrm>
            <a:off x="2020970" y="2898605"/>
            <a:ext cx="329100" cy="27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d70483d76_0_38"/>
          <p:cNvSpPr/>
          <p:nvPr/>
        </p:nvSpPr>
        <p:spPr>
          <a:xfrm>
            <a:off x="2350154" y="2487125"/>
            <a:ext cx="1508700" cy="1097400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 w="15875" cap="flat" cmpd="sng">
            <a:solidFill>
              <a:srgbClr val="C896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d70483d76_0_38"/>
          <p:cNvSpPr txBox="1"/>
          <p:nvPr/>
        </p:nvSpPr>
        <p:spPr>
          <a:xfrm>
            <a:off x="2350154" y="2596853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/book/:id</a:t>
            </a:r>
            <a:endParaRPr/>
          </a:p>
        </p:txBody>
      </p:sp>
      <p:sp>
        <p:nvSpPr>
          <p:cNvPr id="168" name="Google Shape;168;g3ed70483d76_0_38"/>
          <p:cNvSpPr txBox="1"/>
          <p:nvPr/>
        </p:nvSpPr>
        <p:spPr>
          <a:xfrm>
            <a:off x="2350154" y="2944325"/>
            <a:ext cx="1508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Detalle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agregar</a:t>
            </a:r>
            <a:endParaRPr/>
          </a:p>
        </p:txBody>
      </p:sp>
      <p:sp>
        <p:nvSpPr>
          <p:cNvPr id="169" name="Google Shape;169;g3ed70483d76_0_38"/>
          <p:cNvSpPr/>
          <p:nvPr/>
        </p:nvSpPr>
        <p:spPr>
          <a:xfrm>
            <a:off x="3877202" y="2898605"/>
            <a:ext cx="329100" cy="27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d70483d76_0_38"/>
          <p:cNvSpPr/>
          <p:nvPr/>
        </p:nvSpPr>
        <p:spPr>
          <a:xfrm>
            <a:off x="4206386" y="2487125"/>
            <a:ext cx="1508700" cy="1097400"/>
          </a:xfrm>
          <a:prstGeom prst="roundRect">
            <a:avLst>
              <a:gd name="adj" fmla="val 16667"/>
            </a:avLst>
          </a:prstGeom>
          <a:solidFill>
            <a:srgbClr val="2A2318"/>
          </a:solidFill>
          <a:ln w="15875" cap="flat" cmpd="sng">
            <a:solidFill>
              <a:srgbClr val="C896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d70483d76_0_38"/>
          <p:cNvSpPr txBox="1"/>
          <p:nvPr/>
        </p:nvSpPr>
        <p:spPr>
          <a:xfrm>
            <a:off x="4206386" y="2596853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/reading-list</a:t>
            </a:r>
            <a:endParaRPr/>
          </a:p>
        </p:txBody>
      </p:sp>
      <p:sp>
        <p:nvSpPr>
          <p:cNvPr id="172" name="Google Shape;172;g3ed70483d76_0_38"/>
          <p:cNvSpPr txBox="1"/>
          <p:nvPr/>
        </p:nvSpPr>
        <p:spPr>
          <a:xfrm>
            <a:off x="4206386" y="2944325"/>
            <a:ext cx="1508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Lista de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lectura</a:t>
            </a:r>
            <a:endParaRPr/>
          </a:p>
        </p:txBody>
      </p:sp>
      <p:sp>
        <p:nvSpPr>
          <p:cNvPr id="173" name="Google Shape;173;g3ed70483d76_0_38"/>
          <p:cNvSpPr txBox="1"/>
          <p:nvPr/>
        </p:nvSpPr>
        <p:spPr>
          <a:xfrm>
            <a:off x="566047" y="3904445"/>
            <a:ext cx="4846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selectedBook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pasa el libro a la vista de detalle sin una llamada extra a la API.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Acceso directo por URL →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EmptyState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informativo.</a:t>
            </a:r>
            <a:endParaRPr/>
          </a:p>
        </p:txBody>
      </p:sp>
      <p:pic>
        <p:nvPicPr>
          <p:cNvPr id="174" name="Google Shape;174;g3ed70483d76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75" y="1711617"/>
            <a:ext cx="5632200" cy="4472700"/>
          </a:xfrm>
          <a:prstGeom prst="roundRect">
            <a:avLst>
              <a:gd name="adj" fmla="val 16667"/>
            </a:avLst>
          </a:prstGeom>
          <a:solidFill>
            <a:srgbClr val="12100C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INTEGRACIÓN DE DATOS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API — OpenLibrary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0451485" y="6419063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Base: </a:t>
            </a:r>
            <a:r>
              <a:rPr lang="en-US" sz="13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https://openlibrary.org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·   sin API key   ·   cliente: Axios</a:t>
            </a:r>
            <a:endParaRPr/>
          </a:p>
        </p:txBody>
      </p:sp>
      <p:graphicFrame>
        <p:nvGraphicFramePr>
          <p:cNvPr id="186" name="Google Shape;186;p4"/>
          <p:cNvGraphicFramePr/>
          <p:nvPr/>
        </p:nvGraphicFramePr>
        <p:xfrm>
          <a:off x="640080" y="2240280"/>
          <a:ext cx="7680950" cy="3200400"/>
        </p:xfrm>
        <a:graphic>
          <a:graphicData uri="http://schemas.openxmlformats.org/drawingml/2006/table">
            <a:tbl>
              <a:tblPr firstRow="1" bandRow="1">
                <a:noFill/>
                <a:tableStyleId>{E7E9AE42-72FA-41D6-BEB2-CC86DEEA201E}</a:tableStyleId>
              </a:tblPr>
              <a:tblGrid>
                <a:gridCol w="429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Endpoint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Uso en la app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 /search.json?q=…&amp;limit=20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Búsqueda general (tipo por defecto)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 /search.json?title=…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Búsqueda por título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 /search.json?author=…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Búsqueda por autor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 /search.json?isbn=…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Búsqueda por ISBN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 /works/{id}.json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Detalle de obra (descripción, temas)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covers.openlibrary.org/b/id/{id}-{S|M|L}.jpg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Portadas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7" name="Google Shape;187;p4"/>
          <p:cNvSpPr/>
          <p:nvPr/>
        </p:nvSpPr>
        <p:spPr>
          <a:xfrm>
            <a:off x="8549640" y="2240280"/>
            <a:ext cx="2999232" cy="32004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8778240" y="2377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Servicio openLibrary.ts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8746203" y="2816340"/>
            <a:ext cx="26061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2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searchBooks</a:t>
            </a: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arma params por tipo, paginado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2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getWorkDetails</a:t>
            </a: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detalle de obra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2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getCoverUrl</a:t>
            </a: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URL de portada (S/M/L)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2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getWorkDescription</a:t>
            </a: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string u objeto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CALIDAD Y PRUEBAS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Testing — Vitest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40080" y="1783080"/>
            <a:ext cx="2606040" cy="11430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640080" y="1874519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30 / 30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640080" y="25420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tests OK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429000" y="1783080"/>
            <a:ext cx="2606040" cy="11430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429000" y="1874519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3429000" y="25420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files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6217920" y="1783080"/>
            <a:ext cx="2606040" cy="11430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6217920" y="1874519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~96%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6217920" y="25420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statements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9006840" y="1783080"/>
            <a:ext cx="2606040" cy="11430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9006840" y="1874519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~94%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9006840" y="25420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functions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40075" y="3200400"/>
            <a:ext cx="5486400" cy="27636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868680" y="3337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Suite (30 tests)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868680" y="3794760"/>
            <a:ext cx="51206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readingList.store  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— CRUD, duplicados, localStorage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openLibrary.service (unit)  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— params por tipo, Axios mock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SearchBar  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— render, disabled, emit, guard vacío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EmptyState  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— props y slot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3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openLibrary (integración)  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— funciones puras + API real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309350" y="3200400"/>
            <a:ext cx="5239500" cy="27636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537960" y="3337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Cobertura (v8)</a:t>
            </a:r>
            <a:endParaRPr/>
          </a:p>
        </p:txBody>
      </p:sp>
      <p:graphicFrame>
        <p:nvGraphicFramePr>
          <p:cNvPr id="217" name="Google Shape;217;p5"/>
          <p:cNvGraphicFramePr/>
          <p:nvPr/>
        </p:nvGraphicFramePr>
        <p:xfrm>
          <a:off x="6537960" y="3794760"/>
          <a:ext cx="4800650" cy="1737375"/>
        </p:xfrm>
        <a:graphic>
          <a:graphicData uri="http://schemas.openxmlformats.org/drawingml/2006/table">
            <a:tbl>
              <a:tblPr firstRow="1" bandRow="1">
                <a:noFill/>
                <a:tableStyleId>{E7E9AE42-72FA-41D6-BEB2-CC86DEEA201E}</a:tableStyleId>
              </a:tblPr>
              <a:tblGrid>
                <a:gridCol w="169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Módulo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Stmts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Branch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Funcs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210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Lines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C89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components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95%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95%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services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stores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95%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75%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94%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1E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Total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96%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96%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94%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EDE0C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96%</a:t>
                      </a:r>
                      <a:endParaRPr/>
                    </a:p>
                  </a:txBody>
                  <a:tcPr marL="101600" marR="91450" marT="25400" marB="25400" anchor="ctr">
                    <a:solidFill>
                      <a:srgbClr val="2A2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d70483d76_0_6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d70483d76_0_68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d70483d76_0_68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CALIDAD Y PRUEBAS - S</a:t>
            </a:r>
            <a:r>
              <a:rPr lang="en-US" sz="13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CREENSHOTS</a:t>
            </a:r>
            <a:endParaRPr/>
          </a:p>
        </p:txBody>
      </p:sp>
      <p:sp>
        <p:nvSpPr>
          <p:cNvPr id="225" name="Google Shape;225;g3ed70483d76_0_68"/>
          <p:cNvSpPr txBox="1"/>
          <p:nvPr/>
        </p:nvSpPr>
        <p:spPr>
          <a:xfrm>
            <a:off x="640080" y="932688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Testing — Vitest</a:t>
            </a:r>
            <a:endParaRPr/>
          </a:p>
        </p:txBody>
      </p:sp>
      <p:sp>
        <p:nvSpPr>
          <p:cNvPr id="226" name="Google Shape;226;g3ed70483d76_0_68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27" name="Google Shape;227;g3ed70483d76_0_68"/>
          <p:cNvSpPr txBox="1"/>
          <p:nvPr/>
        </p:nvSpPr>
        <p:spPr>
          <a:xfrm>
            <a:off x="10424160" y="641908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/>
          </a:p>
        </p:txBody>
      </p:sp>
      <p:pic>
        <p:nvPicPr>
          <p:cNvPr id="228" name="Google Shape;228;g3ed70483d76_0_68" title="testfinal1.png"/>
          <p:cNvPicPr preferRelativeResize="0"/>
          <p:nvPr/>
        </p:nvPicPr>
        <p:blipFill rotWithShape="1">
          <a:blip r:embed="rId3">
            <a:alphaModFix/>
          </a:blip>
          <a:srcRect r="4132"/>
          <a:stretch/>
        </p:blipFill>
        <p:spPr>
          <a:xfrm>
            <a:off x="640075" y="1024075"/>
            <a:ext cx="10972799" cy="5247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d70483d76_0_9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d70483d76_0_95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d70483d76_0_95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CALIDAD Y PRUEBAS - </a:t>
            </a:r>
            <a:r>
              <a:rPr lang="en-US" sz="13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SCREENSHOTS</a:t>
            </a:r>
            <a:endParaRPr/>
          </a:p>
        </p:txBody>
      </p:sp>
      <p:sp>
        <p:nvSpPr>
          <p:cNvPr id="236" name="Google Shape;236;g3ed70483d76_0_95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37" name="Google Shape;237;g3ed70483d76_0_95"/>
          <p:cNvSpPr txBox="1"/>
          <p:nvPr/>
        </p:nvSpPr>
        <p:spPr>
          <a:xfrm>
            <a:off x="10424160" y="641908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pic>
        <p:nvPicPr>
          <p:cNvPr id="238" name="Google Shape;238;g3ed70483d76_0_95" title="testfinal2.png"/>
          <p:cNvPicPr preferRelativeResize="0"/>
          <p:nvPr/>
        </p:nvPicPr>
        <p:blipFill rotWithShape="1">
          <a:blip r:embed="rId3">
            <a:alphaModFix/>
          </a:blip>
          <a:srcRect r="19543"/>
          <a:stretch/>
        </p:blipFill>
        <p:spPr>
          <a:xfrm>
            <a:off x="1066650" y="1045512"/>
            <a:ext cx="10058401" cy="49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d70483d76_0_1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d70483d76_0_123"/>
          <p:cNvSpPr/>
          <p:nvPr/>
        </p:nvSpPr>
        <p:spPr>
          <a:xfrm>
            <a:off x="640080" y="566928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d70483d76_0_123"/>
          <p:cNvSpPr txBox="1"/>
          <p:nvPr/>
        </p:nvSpPr>
        <p:spPr>
          <a:xfrm>
            <a:off x="640080" y="658368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CALIDAD Y PRUEBAS - </a:t>
            </a:r>
            <a:r>
              <a:rPr lang="en-US" sz="13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SCREENSHOTS</a:t>
            </a:r>
            <a:endParaRPr/>
          </a:p>
        </p:txBody>
      </p:sp>
      <p:sp>
        <p:nvSpPr>
          <p:cNvPr id="246" name="Google Shape;246;g3ed70483d76_0_123"/>
          <p:cNvSpPr txBox="1"/>
          <p:nvPr/>
        </p:nvSpPr>
        <p:spPr>
          <a:xfrm>
            <a:off x="640080" y="641908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47" name="Google Shape;247;g3ed70483d76_0_123"/>
          <p:cNvSpPr txBox="1"/>
          <p:nvPr/>
        </p:nvSpPr>
        <p:spPr>
          <a:xfrm>
            <a:off x="10424160" y="641908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pic>
        <p:nvPicPr>
          <p:cNvPr id="248" name="Google Shape;248;g3ed70483d76_0_123" title="testfinal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13" y="2372362"/>
            <a:ext cx="11159074" cy="21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RENDIMIENTO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Performance — optimización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640080" y="1783080"/>
            <a:ext cx="5852160" cy="370332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868680" y="19202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Optimizaciones aplicadas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868680" y="242316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Imagen LCP en WebP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preload del hero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preconnect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OpenLibrary, covers y CDN de íconos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 MDI async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media=print → onload (no bloquea render)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SEO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 description, lang=es, title descriptivo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4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con Vite  </a:t>
            </a:r>
            <a:r>
              <a:rPr lang="en-US" sz="14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tree-shaking + autoImport de Vuetify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720840" y="1783080"/>
            <a:ext cx="4828032" cy="370332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6949440" y="19202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Lighthouse</a:t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6949440" y="2468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9875520" y="246888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97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6949440" y="312724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Accessibility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9875520" y="312724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94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6949440" y="3785616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Practices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9875520" y="3785616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100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6949440" y="44439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SEO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9875520" y="4443984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100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40080" y="660076"/>
            <a:ext cx="457200" cy="507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640080" y="751516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RECURSOS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640080" y="1025836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Enlaces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40080" y="2071605"/>
            <a:ext cx="10908900" cy="10974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40080" y="2071605"/>
            <a:ext cx="63600" cy="10974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960120" y="2217909"/>
            <a:ext cx="10058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Repositorio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Código fuente, README y mockups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960120" y="2638533"/>
            <a:ext cx="10241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AF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https://github.com/Daniel-Panzera/buscador-de-libros-RIA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40080" y="3795241"/>
            <a:ext cx="10908900" cy="1097400"/>
          </a:xfrm>
          <a:prstGeom prst="roundRect">
            <a:avLst>
              <a:gd name="adj" fmla="val 16667"/>
            </a:avLst>
          </a:prstGeom>
          <a:solidFill>
            <a:srgbClr val="1E1A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40080" y="3795241"/>
            <a:ext cx="63600" cy="10974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60120" y="3941545"/>
            <a:ext cx="10058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Video </a:t>
            </a:r>
            <a:r>
              <a:rPr lang="en-US" sz="1800" b="1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demostrativo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US" sz="1300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Demostración del uso de la página</a:t>
            </a:r>
            <a:r>
              <a:rPr lang="en-US" sz="13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960120" y="4362169"/>
            <a:ext cx="10241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https://www.youtube.com/watch?v=_8m3_gngdok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40080" y="566928"/>
            <a:ext cx="457200" cy="50800"/>
          </a:xfrm>
          <a:prstGeom prst="rect">
            <a:avLst/>
          </a:prstGeom>
          <a:solidFill>
            <a:srgbClr val="C896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640080" y="6583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CIERRE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EDE0CA"/>
                </a:solidFill>
                <a:latin typeface="Georgia"/>
                <a:ea typeface="Georgia"/>
                <a:cs typeface="Georgia"/>
                <a:sym typeface="Georgia"/>
              </a:rPr>
              <a:t>Conclusiones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BookFinder · OpenLibrary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40080" y="1828800"/>
            <a:ext cx="10789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6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 completa sin backend propio  </a:t>
            </a:r>
            <a:r>
              <a:rPr lang="en-US" sz="16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OpenLibrary + localStorage cubren búsqueda, detalle y lista de lectura.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6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Arquitectura desacoplada  </a:t>
            </a:r>
            <a:r>
              <a:rPr lang="en-US" sz="16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vistas, componentes, stores (Pinia) y servicio HTTP con responsabilidades claras.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6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Tipado estricto  </a:t>
            </a:r>
            <a:r>
              <a:rPr lang="en-US" sz="16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TypeScript con noUnused* y tipos de dominio (BookDoc, WorkDetail, …).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6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Calidad verificada  </a:t>
            </a:r>
            <a:r>
              <a:rPr lang="en-US" sz="16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30 tests (unit + integración) y cobertura ~96%.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89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lang="en-US" sz="1600" b="1" i="0" u="none" strike="noStrike" cap="none">
                <a:solidFill>
                  <a:srgbClr val="EDE0C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cuidada  </a:t>
            </a:r>
            <a:r>
              <a:rPr lang="en-US" sz="1600" b="0" i="0" u="none" strike="noStrike" cap="none">
                <a:solidFill>
                  <a:srgbClr val="B0A0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WebP, preload, preconnect y carga async de assets.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Panorámica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Calibri</vt:lpstr>
      <vt:lpstr>Georgia</vt:lpstr>
      <vt:lpstr>Quattrocento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Gaston Iriarte</cp:lastModifiedBy>
  <cp:revision>1</cp:revision>
  <dcterms:created xsi:type="dcterms:W3CDTF">2013-01-27T09:14:16Z</dcterms:created>
  <dcterms:modified xsi:type="dcterms:W3CDTF">2026-06-12T23:31:49Z</dcterms:modified>
</cp:coreProperties>
</file>