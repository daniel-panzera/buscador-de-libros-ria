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12191675"/>
  <p:notesSz cx="6858000" cy="9144000"/>
  <p:embeddedFontLst>
    <p:embeddedFont>
      <p:font typeface="Quattrocento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iK6m0FcLfpFs6QtKAvwNcZ/Dpr9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7E9AE42-72FA-41D6-BEB2-CC86DEEA201E}">
  <a:tblStyle styleId="{E7E9AE42-72FA-41D6-BEB2-CC86DEEA201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QuattrocentoSans-bold.fntdata"/><Relationship Id="rId21" Type="http://schemas.openxmlformats.org/officeDocument/2006/relationships/font" Target="fonts/QuattrocentoSans-regular.fntdata"/><Relationship Id="rId24" Type="http://schemas.openxmlformats.org/officeDocument/2006/relationships/font" Target="fonts/QuattrocentoSans-boldItalic.fntdata"/><Relationship Id="rId23" Type="http://schemas.openxmlformats.org/officeDocument/2006/relationships/font" Target="fonts/QuattrocentoSans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ed70483d7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3ed70483d76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d70483d76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ed70483d76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d70483d76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ed70483d76_0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ed70483d76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g3ed70483d76_0_6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ed70483d76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g3ed70483d76_0_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ed70483d76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g3ed70483d76_0_1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www.youtube.com/watch?v=_8m3_gngdok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914400" y="2103120"/>
            <a:ext cx="822960" cy="635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24028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BookFinder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34290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Buscador de libros sobre la API pública de OpenLibrary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914400" y="3977639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SPA · búsqueda por título, autor o ISBN · lista de lectura persistente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914400" y="4800600"/>
            <a:ext cx="1234440" cy="384048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14400" y="480060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Vue 3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2313432" y="4800600"/>
            <a:ext cx="1234440" cy="384048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2313432" y="480060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Vuetify 3</a:t>
            </a:r>
            <a:endParaRPr/>
          </a:p>
        </p:txBody>
      </p:sp>
      <p:sp>
        <p:nvSpPr>
          <p:cNvPr id="94" name="Google Shape;94;p1"/>
          <p:cNvSpPr/>
          <p:nvPr/>
        </p:nvSpPr>
        <p:spPr>
          <a:xfrm>
            <a:off x="3712464" y="4800600"/>
            <a:ext cx="1234440" cy="384048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3712464" y="480060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TypeScript</a:t>
            </a:r>
            <a:endParaRPr/>
          </a:p>
        </p:txBody>
      </p:sp>
      <p:sp>
        <p:nvSpPr>
          <p:cNvPr id="96" name="Google Shape;96;p1"/>
          <p:cNvSpPr/>
          <p:nvPr/>
        </p:nvSpPr>
        <p:spPr>
          <a:xfrm>
            <a:off x="5111496" y="4800600"/>
            <a:ext cx="1234440" cy="384048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5111496" y="480060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Pinia</a:t>
            </a:r>
            <a:endParaRPr/>
          </a:p>
        </p:txBody>
      </p:sp>
      <p:sp>
        <p:nvSpPr>
          <p:cNvPr id="98" name="Google Shape;98;p1"/>
          <p:cNvSpPr/>
          <p:nvPr/>
        </p:nvSpPr>
        <p:spPr>
          <a:xfrm>
            <a:off x="6510528" y="4800600"/>
            <a:ext cx="1234440" cy="384048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6510528" y="480060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Vite</a:t>
            </a:r>
            <a:endParaRPr/>
          </a:p>
        </p:txBody>
      </p:sp>
      <p:sp>
        <p:nvSpPr>
          <p:cNvPr id="100" name="Google Shape;100;p1"/>
          <p:cNvSpPr/>
          <p:nvPr/>
        </p:nvSpPr>
        <p:spPr>
          <a:xfrm>
            <a:off x="7909560" y="4800600"/>
            <a:ext cx="1234440" cy="384048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7909560" y="480060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Vitest</a:t>
            </a:r>
            <a:endParaRPr/>
          </a:p>
        </p:txBody>
      </p:sp>
      <p:sp>
        <p:nvSpPr>
          <p:cNvPr id="102" name="Google Shape;102;p1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Bruno Cruz - </a:t>
            </a:r>
            <a:r>
              <a:rPr b="1" i="0" lang="en-US" sz="15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Panzera - Gastón Iriarte</a:t>
            </a:r>
            <a:r>
              <a:rPr b="0" i="0" lang="en-US" sz="15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  ·    Lab 2 — Presentación Final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D6E47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/>
          <p:nvPr/>
        </p:nvSpPr>
        <p:spPr>
          <a:xfrm>
            <a:off x="-87" y="0"/>
            <a:ext cx="12191700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640080" y="566928"/>
            <a:ext cx="457200" cy="508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640080" y="65836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DISEÑO DE INTERFAZ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2515355" y="429788"/>
            <a:ext cx="10972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Mockups y vistas - </a:t>
            </a:r>
            <a:r>
              <a:rPr b="1" lang="en-US" sz="3200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Home / Búsqueda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640080" y="6419063"/>
            <a:ext cx="548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10424160" y="6419088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02</a:t>
            </a:r>
            <a:endParaRPr/>
          </a:p>
        </p:txBody>
      </p:sp>
      <p:pic>
        <p:nvPicPr>
          <p:cNvPr id="113" name="Google Shape;113;p2"/>
          <p:cNvPicPr preferRelativeResize="0"/>
          <p:nvPr/>
        </p:nvPicPr>
        <p:blipFill rotWithShape="1">
          <a:blip r:embed="rId3">
            <a:alphaModFix/>
          </a:blip>
          <a:srcRect b="1511" l="2656" r="5432" t="3441"/>
          <a:stretch/>
        </p:blipFill>
        <p:spPr>
          <a:xfrm>
            <a:off x="1246650" y="1064775"/>
            <a:ext cx="9263100" cy="5261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ed70483d76_0_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g3ed70483d76_0_0"/>
          <p:cNvSpPr/>
          <p:nvPr/>
        </p:nvSpPr>
        <p:spPr>
          <a:xfrm>
            <a:off x="640080" y="566928"/>
            <a:ext cx="457200" cy="507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ed70483d76_0_0"/>
          <p:cNvSpPr txBox="1"/>
          <p:nvPr/>
        </p:nvSpPr>
        <p:spPr>
          <a:xfrm>
            <a:off x="640080" y="658368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DISEÑO DE INTERFAZ</a:t>
            </a:r>
            <a:endParaRPr/>
          </a:p>
        </p:txBody>
      </p:sp>
      <p:sp>
        <p:nvSpPr>
          <p:cNvPr id="121" name="Google Shape;121;g3ed70483d76_0_0"/>
          <p:cNvSpPr txBox="1"/>
          <p:nvPr/>
        </p:nvSpPr>
        <p:spPr>
          <a:xfrm>
            <a:off x="2511405" y="429763"/>
            <a:ext cx="10972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Mockups y vistas - Detalle de Libro</a:t>
            </a:r>
            <a:endParaRPr b="1" i="0" sz="3200" u="none" cap="none" strike="noStrike">
              <a:solidFill>
                <a:srgbClr val="EDE0CA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200">
              <a:solidFill>
                <a:srgbClr val="EDE0CA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22" name="Google Shape;122;g3ed70483d76_0_0"/>
          <p:cNvSpPr txBox="1"/>
          <p:nvPr/>
        </p:nvSpPr>
        <p:spPr>
          <a:xfrm>
            <a:off x="640080" y="6419088"/>
            <a:ext cx="548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123" name="Google Shape;123;g3ed70483d76_0_0"/>
          <p:cNvSpPr txBox="1"/>
          <p:nvPr/>
        </p:nvSpPr>
        <p:spPr>
          <a:xfrm>
            <a:off x="10424160" y="6419088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03</a:t>
            </a:r>
            <a:endParaRPr/>
          </a:p>
        </p:txBody>
      </p:sp>
      <p:pic>
        <p:nvPicPr>
          <p:cNvPr id="124" name="Google Shape;124;g3ed70483d76_0_0"/>
          <p:cNvPicPr preferRelativeResize="0"/>
          <p:nvPr/>
        </p:nvPicPr>
        <p:blipFill rotWithShape="1">
          <a:blip r:embed="rId3">
            <a:alphaModFix/>
          </a:blip>
          <a:srcRect b="2140" l="1266" r="2116" t="3583"/>
          <a:stretch/>
        </p:blipFill>
        <p:spPr>
          <a:xfrm>
            <a:off x="640075" y="1048575"/>
            <a:ext cx="10881600" cy="53163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d70483d76_0_19"/>
          <p:cNvSpPr/>
          <p:nvPr/>
        </p:nvSpPr>
        <p:spPr>
          <a:xfrm>
            <a:off x="-12" y="0"/>
            <a:ext cx="12191700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g3ed70483d76_0_19"/>
          <p:cNvSpPr/>
          <p:nvPr/>
        </p:nvSpPr>
        <p:spPr>
          <a:xfrm>
            <a:off x="640080" y="566928"/>
            <a:ext cx="457200" cy="507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ed70483d76_0_19"/>
          <p:cNvSpPr txBox="1"/>
          <p:nvPr/>
        </p:nvSpPr>
        <p:spPr>
          <a:xfrm>
            <a:off x="640080" y="658368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DISEÑO DE INTERFAZ</a:t>
            </a:r>
            <a:endParaRPr/>
          </a:p>
        </p:txBody>
      </p:sp>
      <p:sp>
        <p:nvSpPr>
          <p:cNvPr id="132" name="Google Shape;132;g3ed70483d76_0_19"/>
          <p:cNvSpPr txBox="1"/>
          <p:nvPr/>
        </p:nvSpPr>
        <p:spPr>
          <a:xfrm>
            <a:off x="2513780" y="429763"/>
            <a:ext cx="10972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Mockups y vistas - Lista de Lectura</a:t>
            </a:r>
            <a:endParaRPr b="1" i="0" sz="3200" u="none" cap="none" strike="noStrike">
              <a:solidFill>
                <a:srgbClr val="EDE0CA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200">
              <a:solidFill>
                <a:srgbClr val="EDE0CA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3" name="Google Shape;133;g3ed70483d76_0_19"/>
          <p:cNvSpPr txBox="1"/>
          <p:nvPr/>
        </p:nvSpPr>
        <p:spPr>
          <a:xfrm>
            <a:off x="640080" y="6419088"/>
            <a:ext cx="548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134" name="Google Shape;134;g3ed70483d76_0_19"/>
          <p:cNvSpPr txBox="1"/>
          <p:nvPr/>
        </p:nvSpPr>
        <p:spPr>
          <a:xfrm>
            <a:off x="10425285" y="6419113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04</a:t>
            </a:r>
            <a:endParaRPr/>
          </a:p>
        </p:txBody>
      </p:sp>
      <p:pic>
        <p:nvPicPr>
          <p:cNvPr id="135" name="Google Shape;135;g3ed70483d76_0_19"/>
          <p:cNvPicPr preferRelativeResize="0"/>
          <p:nvPr/>
        </p:nvPicPr>
        <p:blipFill rotWithShape="1">
          <a:blip r:embed="rId3">
            <a:alphaModFix/>
          </a:blip>
          <a:srcRect b="2924" l="2907" r="3311" t="7374"/>
          <a:stretch/>
        </p:blipFill>
        <p:spPr>
          <a:xfrm>
            <a:off x="379038" y="1138438"/>
            <a:ext cx="11433600" cy="5166300"/>
          </a:xfrm>
          <a:prstGeom prst="roundRect">
            <a:avLst>
              <a:gd fmla="val 16667" name="adj"/>
            </a:avLst>
          </a:prstGeom>
          <a:solidFill>
            <a:srgbClr val="12100C"/>
          </a:solidFill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"/>
          <p:cNvSpPr/>
          <p:nvPr/>
        </p:nvSpPr>
        <p:spPr>
          <a:xfrm>
            <a:off x="0" y="0"/>
            <a:ext cx="12238500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640080" y="566928"/>
            <a:ext cx="457200" cy="508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640080" y="65836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ARQUITECTURA DE COMPONENTES</a:t>
            </a:r>
            <a:endParaRPr/>
          </a:p>
        </p:txBody>
      </p:sp>
      <p:sp>
        <p:nvSpPr>
          <p:cNvPr id="143" name="Google Shape;143;p3"/>
          <p:cNvSpPr txBox="1"/>
          <p:nvPr/>
        </p:nvSpPr>
        <p:spPr>
          <a:xfrm>
            <a:off x="640080" y="932688"/>
            <a:ext cx="10972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Estructura </a:t>
            </a:r>
            <a:endParaRPr/>
          </a:p>
        </p:txBody>
      </p:sp>
      <p:sp>
        <p:nvSpPr>
          <p:cNvPr id="144" name="Google Shape;144;p3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145" name="Google Shape;145;p3"/>
          <p:cNvSpPr txBox="1"/>
          <p:nvPr/>
        </p:nvSpPr>
        <p:spPr>
          <a:xfrm>
            <a:off x="10424160" y="6419088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05</a:t>
            </a:r>
            <a:endParaRPr/>
          </a:p>
        </p:txBody>
      </p:sp>
      <p:sp>
        <p:nvSpPr>
          <p:cNvPr id="146" name="Google Shape;146;p3"/>
          <p:cNvSpPr/>
          <p:nvPr/>
        </p:nvSpPr>
        <p:spPr>
          <a:xfrm>
            <a:off x="494050" y="1798475"/>
            <a:ext cx="4705500" cy="43908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722655" y="1935640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Capas de la SPA</a:t>
            </a:r>
            <a:endParaRPr/>
          </a:p>
        </p:txBody>
      </p:sp>
      <p:sp>
        <p:nvSpPr>
          <p:cNvPr id="148" name="Google Shape;148;p3"/>
          <p:cNvSpPr txBox="1"/>
          <p:nvPr/>
        </p:nvSpPr>
        <p:spPr>
          <a:xfrm>
            <a:off x="815105" y="2435660"/>
            <a:ext cx="502920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Vistas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→ Home · BookDetail · ReadingList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Componentes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AppNavbar · BookCard · SearchBar · EmptyState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Stores (Pinia)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readingList · selectedBook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Servicios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openLibrary.ts (Axios)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Router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Vue Router — 3 rutas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Persistencia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localStorage (lista de lectura)</a:t>
            </a:r>
            <a:endParaRPr/>
          </a:p>
        </p:txBody>
      </p:sp>
      <p:pic>
        <p:nvPicPr>
          <p:cNvPr id="149" name="Google Shape;149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5350" y="921875"/>
            <a:ext cx="6371700" cy="52674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d70483d76_0_38"/>
          <p:cNvSpPr/>
          <p:nvPr/>
        </p:nvSpPr>
        <p:spPr>
          <a:xfrm>
            <a:off x="-80325" y="0"/>
            <a:ext cx="12302700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ed70483d76_0_38"/>
          <p:cNvSpPr/>
          <p:nvPr/>
        </p:nvSpPr>
        <p:spPr>
          <a:xfrm>
            <a:off x="640080" y="566928"/>
            <a:ext cx="457200" cy="507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ed70483d76_0_38"/>
          <p:cNvSpPr txBox="1"/>
          <p:nvPr/>
        </p:nvSpPr>
        <p:spPr>
          <a:xfrm>
            <a:off x="640080" y="658368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ARQUITECTURA DE COMPONENTES</a:t>
            </a:r>
            <a:endParaRPr/>
          </a:p>
        </p:txBody>
      </p:sp>
      <p:sp>
        <p:nvSpPr>
          <p:cNvPr id="157" name="Google Shape;157;g3ed70483d76_0_38"/>
          <p:cNvSpPr txBox="1"/>
          <p:nvPr/>
        </p:nvSpPr>
        <p:spPr>
          <a:xfrm>
            <a:off x="640080" y="932688"/>
            <a:ext cx="10972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F</a:t>
            </a: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lujo de navegación</a:t>
            </a:r>
            <a:endParaRPr/>
          </a:p>
        </p:txBody>
      </p:sp>
      <p:sp>
        <p:nvSpPr>
          <p:cNvPr id="158" name="Google Shape;158;g3ed70483d76_0_38"/>
          <p:cNvSpPr txBox="1"/>
          <p:nvPr/>
        </p:nvSpPr>
        <p:spPr>
          <a:xfrm>
            <a:off x="640080" y="6419088"/>
            <a:ext cx="548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159" name="Google Shape;159;g3ed70483d76_0_38"/>
          <p:cNvSpPr txBox="1"/>
          <p:nvPr/>
        </p:nvSpPr>
        <p:spPr>
          <a:xfrm>
            <a:off x="10424160" y="6419088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06</a:t>
            </a:r>
            <a:endParaRPr/>
          </a:p>
        </p:txBody>
      </p:sp>
      <p:sp>
        <p:nvSpPr>
          <p:cNvPr id="160" name="Google Shape;160;g3ed70483d76_0_38"/>
          <p:cNvSpPr/>
          <p:nvPr/>
        </p:nvSpPr>
        <p:spPr>
          <a:xfrm>
            <a:off x="337450" y="1755600"/>
            <a:ext cx="5534100" cy="44286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g3ed70483d76_0_38"/>
          <p:cNvSpPr txBox="1"/>
          <p:nvPr/>
        </p:nvSpPr>
        <p:spPr>
          <a:xfrm>
            <a:off x="566047" y="1939228"/>
            <a:ext cx="4846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Flujo de navegación</a:t>
            </a:r>
            <a:endParaRPr/>
          </a:p>
        </p:txBody>
      </p:sp>
      <p:sp>
        <p:nvSpPr>
          <p:cNvPr id="162" name="Google Shape;162;g3ed70483d76_0_38"/>
          <p:cNvSpPr/>
          <p:nvPr/>
        </p:nvSpPr>
        <p:spPr>
          <a:xfrm>
            <a:off x="493922" y="2487125"/>
            <a:ext cx="1508700" cy="1097400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 cap="flat" cmpd="sng" w="15875">
            <a:solidFill>
              <a:srgbClr val="C896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g3ed70483d76_0_38"/>
          <p:cNvSpPr txBox="1"/>
          <p:nvPr/>
        </p:nvSpPr>
        <p:spPr>
          <a:xfrm>
            <a:off x="493922" y="2596853"/>
            <a:ext cx="1508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/</a:t>
            </a:r>
            <a:endParaRPr/>
          </a:p>
        </p:txBody>
      </p:sp>
      <p:sp>
        <p:nvSpPr>
          <p:cNvPr id="164" name="Google Shape;164;g3ed70483d76_0_38"/>
          <p:cNvSpPr txBox="1"/>
          <p:nvPr/>
        </p:nvSpPr>
        <p:spPr>
          <a:xfrm>
            <a:off x="493922" y="2944325"/>
            <a:ext cx="15087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Home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búsqueda</a:t>
            </a:r>
            <a:endParaRPr/>
          </a:p>
        </p:txBody>
      </p:sp>
      <p:sp>
        <p:nvSpPr>
          <p:cNvPr id="165" name="Google Shape;165;g3ed70483d76_0_38"/>
          <p:cNvSpPr/>
          <p:nvPr/>
        </p:nvSpPr>
        <p:spPr>
          <a:xfrm>
            <a:off x="2020970" y="2898605"/>
            <a:ext cx="3291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ed70483d76_0_38"/>
          <p:cNvSpPr/>
          <p:nvPr/>
        </p:nvSpPr>
        <p:spPr>
          <a:xfrm>
            <a:off x="2350154" y="2487125"/>
            <a:ext cx="1508700" cy="1097400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 cap="flat" cmpd="sng" w="15875">
            <a:solidFill>
              <a:srgbClr val="C896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ed70483d76_0_38"/>
          <p:cNvSpPr txBox="1"/>
          <p:nvPr/>
        </p:nvSpPr>
        <p:spPr>
          <a:xfrm>
            <a:off x="2350154" y="2596853"/>
            <a:ext cx="1508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/book/:id</a:t>
            </a:r>
            <a:endParaRPr/>
          </a:p>
        </p:txBody>
      </p:sp>
      <p:sp>
        <p:nvSpPr>
          <p:cNvPr id="168" name="Google Shape;168;g3ed70483d76_0_38"/>
          <p:cNvSpPr txBox="1"/>
          <p:nvPr/>
        </p:nvSpPr>
        <p:spPr>
          <a:xfrm>
            <a:off x="2350154" y="2944325"/>
            <a:ext cx="15087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Detalle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agregar</a:t>
            </a:r>
            <a:endParaRPr/>
          </a:p>
        </p:txBody>
      </p:sp>
      <p:sp>
        <p:nvSpPr>
          <p:cNvPr id="169" name="Google Shape;169;g3ed70483d76_0_38"/>
          <p:cNvSpPr/>
          <p:nvPr/>
        </p:nvSpPr>
        <p:spPr>
          <a:xfrm>
            <a:off x="3877202" y="2898605"/>
            <a:ext cx="3291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ed70483d76_0_38"/>
          <p:cNvSpPr/>
          <p:nvPr/>
        </p:nvSpPr>
        <p:spPr>
          <a:xfrm>
            <a:off x="4206386" y="2487125"/>
            <a:ext cx="1508700" cy="1097400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 cap="flat" cmpd="sng" w="15875">
            <a:solidFill>
              <a:srgbClr val="C896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ed70483d76_0_38"/>
          <p:cNvSpPr txBox="1"/>
          <p:nvPr/>
        </p:nvSpPr>
        <p:spPr>
          <a:xfrm>
            <a:off x="4206386" y="2596853"/>
            <a:ext cx="1508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/reading-list</a:t>
            </a:r>
            <a:endParaRPr/>
          </a:p>
        </p:txBody>
      </p:sp>
      <p:sp>
        <p:nvSpPr>
          <p:cNvPr id="172" name="Google Shape;172;g3ed70483d76_0_38"/>
          <p:cNvSpPr txBox="1"/>
          <p:nvPr/>
        </p:nvSpPr>
        <p:spPr>
          <a:xfrm>
            <a:off x="4206386" y="2944325"/>
            <a:ext cx="15087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Lista de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lectura</a:t>
            </a:r>
            <a:endParaRPr/>
          </a:p>
        </p:txBody>
      </p:sp>
      <p:sp>
        <p:nvSpPr>
          <p:cNvPr id="173" name="Google Shape;173;g3ed70483d76_0_38"/>
          <p:cNvSpPr txBox="1"/>
          <p:nvPr/>
        </p:nvSpPr>
        <p:spPr>
          <a:xfrm>
            <a:off x="566047" y="3904445"/>
            <a:ext cx="4846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selectedBook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pasa el libro a la vista de detalle sin una llamada extra a la API.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Acceso directo por URL → </a:t>
            </a:r>
            <a:r>
              <a:rPr b="1" i="0" lang="en-US" sz="13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EmptyState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informativo.</a:t>
            </a:r>
            <a:endParaRPr/>
          </a:p>
        </p:txBody>
      </p:sp>
      <p:pic>
        <p:nvPicPr>
          <p:cNvPr id="174" name="Google Shape;174;g3ed70483d76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26475" y="1711617"/>
            <a:ext cx="5632200" cy="4472700"/>
          </a:xfrm>
          <a:prstGeom prst="roundRect">
            <a:avLst>
              <a:gd fmla="val 16667" name="adj"/>
            </a:avLst>
          </a:prstGeom>
          <a:solidFill>
            <a:srgbClr val="12100C"/>
          </a:solidFill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640080" y="566928"/>
            <a:ext cx="457200" cy="508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640080" y="65836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INTEGRACIÓN DE DATOS</a:t>
            </a:r>
            <a:endParaRPr/>
          </a:p>
        </p:txBody>
      </p:sp>
      <p:sp>
        <p:nvSpPr>
          <p:cNvPr id="182" name="Google Shape;182;p4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API — OpenLibrary</a:t>
            </a:r>
            <a:endParaRPr/>
          </a:p>
        </p:txBody>
      </p:sp>
      <p:sp>
        <p:nvSpPr>
          <p:cNvPr id="183" name="Google Shape;183;p4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184" name="Google Shape;184;p4"/>
          <p:cNvSpPr txBox="1"/>
          <p:nvPr/>
        </p:nvSpPr>
        <p:spPr>
          <a:xfrm>
            <a:off x="10451485" y="6419063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07</a:t>
            </a:r>
            <a:endParaRPr/>
          </a:p>
        </p:txBody>
      </p:sp>
      <p:sp>
        <p:nvSpPr>
          <p:cNvPr id="185" name="Google Shape;185;p4"/>
          <p:cNvSpPr txBox="1"/>
          <p:nvPr/>
        </p:nvSpPr>
        <p:spPr>
          <a:xfrm>
            <a:off x="640080" y="17373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Base: </a:t>
            </a:r>
            <a:r>
              <a:rPr b="1" i="0" lang="en-US" sz="13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https://openlibrary.org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 ·   sin API key   ·   cliente: Axios</a:t>
            </a:r>
            <a:endParaRPr/>
          </a:p>
        </p:txBody>
      </p:sp>
      <p:graphicFrame>
        <p:nvGraphicFramePr>
          <p:cNvPr id="186" name="Google Shape;186;p4"/>
          <p:cNvGraphicFramePr/>
          <p:nvPr/>
        </p:nvGraphicFramePr>
        <p:xfrm>
          <a:off x="640080" y="22402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{E7E9AE42-72FA-41D6-BEB2-CC86DEEA201E}</a:tableStyleId>
              </a:tblPr>
              <a:tblGrid>
                <a:gridCol w="4297675"/>
                <a:gridCol w="3383275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210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Endpoint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C896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210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Uso en la app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C896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GET /search.json?q=…&amp;limit=20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Búsqueda general (tipo por defecto)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GET /search.json?title=…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Búsqueda por título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GET /search.json?author=…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Búsqueda por autor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GET /search.json?isbn=…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Búsqueda por ISBN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GET /works/{id}.json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Detalle de obra (descripción, temas)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covers.openlibrary.org/b/id/{id}-{S|M|L}.jpg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Portadas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</a:tr>
            </a:tbl>
          </a:graphicData>
        </a:graphic>
      </p:graphicFrame>
      <p:sp>
        <p:nvSpPr>
          <p:cNvPr id="187" name="Google Shape;187;p4"/>
          <p:cNvSpPr/>
          <p:nvPr/>
        </p:nvSpPr>
        <p:spPr>
          <a:xfrm>
            <a:off x="8549640" y="2240280"/>
            <a:ext cx="2999232" cy="32004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4"/>
          <p:cNvSpPr txBox="1"/>
          <p:nvPr/>
        </p:nvSpPr>
        <p:spPr>
          <a:xfrm>
            <a:off x="8778240" y="23774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Servicio openLibrary.ts</a:t>
            </a:r>
            <a:endParaRPr/>
          </a:p>
        </p:txBody>
      </p:sp>
      <p:sp>
        <p:nvSpPr>
          <p:cNvPr id="189" name="Google Shape;189;p4"/>
          <p:cNvSpPr txBox="1"/>
          <p:nvPr/>
        </p:nvSpPr>
        <p:spPr>
          <a:xfrm>
            <a:off x="8746203" y="2816340"/>
            <a:ext cx="260610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2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searchBooks</a:t>
            </a:r>
            <a:r>
              <a:rPr b="0" i="0" lang="en-US" sz="12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— arma params por tipo, paginado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2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getWorkDetails</a:t>
            </a:r>
            <a:r>
              <a:rPr b="0" i="0" lang="en-US" sz="12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— detalle de obra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2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getCoverUrl</a:t>
            </a:r>
            <a:r>
              <a:rPr b="0" i="0" lang="en-US" sz="12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— URL de portada (S/M/L)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2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getWorkDescription</a:t>
            </a:r>
            <a:r>
              <a:rPr b="0" i="0" lang="en-US" sz="12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— string u objeto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640080" y="566928"/>
            <a:ext cx="457200" cy="508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 txBox="1"/>
          <p:nvPr/>
        </p:nvSpPr>
        <p:spPr>
          <a:xfrm>
            <a:off x="640080" y="65836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CALIDAD Y PRUEBAS</a:t>
            </a:r>
            <a:endParaRPr/>
          </a:p>
        </p:txBody>
      </p:sp>
      <p:sp>
        <p:nvSpPr>
          <p:cNvPr id="197" name="Google Shape;197;p5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Testing — Vitest</a:t>
            </a:r>
            <a:endParaRPr/>
          </a:p>
        </p:txBody>
      </p:sp>
      <p:sp>
        <p:nvSpPr>
          <p:cNvPr id="198" name="Google Shape;198;p5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199" name="Google Shape;199;p5"/>
          <p:cNvSpPr txBox="1"/>
          <p:nvPr/>
        </p:nvSpPr>
        <p:spPr>
          <a:xfrm>
            <a:off x="10424160" y="6419088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08</a:t>
            </a:r>
            <a:endParaRPr/>
          </a:p>
        </p:txBody>
      </p:sp>
      <p:sp>
        <p:nvSpPr>
          <p:cNvPr id="200" name="Google Shape;200;p5"/>
          <p:cNvSpPr/>
          <p:nvPr/>
        </p:nvSpPr>
        <p:spPr>
          <a:xfrm>
            <a:off x="640080" y="1783080"/>
            <a:ext cx="2606040" cy="11430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 txBox="1"/>
          <p:nvPr/>
        </p:nvSpPr>
        <p:spPr>
          <a:xfrm>
            <a:off x="640080" y="1874519"/>
            <a:ext cx="2606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D4AF37"/>
                </a:solidFill>
                <a:latin typeface="Georgia"/>
                <a:ea typeface="Georgia"/>
                <a:cs typeface="Georgia"/>
                <a:sym typeface="Georgia"/>
              </a:rPr>
              <a:t>30 / 30</a:t>
            </a:r>
            <a:endParaRPr/>
          </a:p>
        </p:txBody>
      </p:sp>
      <p:sp>
        <p:nvSpPr>
          <p:cNvPr id="202" name="Google Shape;202;p5"/>
          <p:cNvSpPr txBox="1"/>
          <p:nvPr/>
        </p:nvSpPr>
        <p:spPr>
          <a:xfrm>
            <a:off x="640080" y="2542032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tests OK</a:t>
            </a:r>
            <a:endParaRPr/>
          </a:p>
        </p:txBody>
      </p:sp>
      <p:sp>
        <p:nvSpPr>
          <p:cNvPr id="203" name="Google Shape;203;p5"/>
          <p:cNvSpPr/>
          <p:nvPr/>
        </p:nvSpPr>
        <p:spPr>
          <a:xfrm>
            <a:off x="3429000" y="1783080"/>
            <a:ext cx="2606040" cy="11430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 txBox="1"/>
          <p:nvPr/>
        </p:nvSpPr>
        <p:spPr>
          <a:xfrm>
            <a:off x="3429000" y="1874519"/>
            <a:ext cx="2606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D4AF37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/>
          </a:p>
        </p:txBody>
      </p:sp>
      <p:sp>
        <p:nvSpPr>
          <p:cNvPr id="205" name="Google Shape;205;p5"/>
          <p:cNvSpPr txBox="1"/>
          <p:nvPr/>
        </p:nvSpPr>
        <p:spPr>
          <a:xfrm>
            <a:off x="3429000" y="2542032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test files</a:t>
            </a:r>
            <a:endParaRPr/>
          </a:p>
        </p:txBody>
      </p:sp>
      <p:sp>
        <p:nvSpPr>
          <p:cNvPr id="206" name="Google Shape;206;p5"/>
          <p:cNvSpPr/>
          <p:nvPr/>
        </p:nvSpPr>
        <p:spPr>
          <a:xfrm>
            <a:off x="6217920" y="1783080"/>
            <a:ext cx="2606040" cy="11430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 txBox="1"/>
          <p:nvPr/>
        </p:nvSpPr>
        <p:spPr>
          <a:xfrm>
            <a:off x="6217920" y="1874519"/>
            <a:ext cx="2606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D4AF37"/>
                </a:solidFill>
                <a:latin typeface="Georgia"/>
                <a:ea typeface="Georgia"/>
                <a:cs typeface="Georgia"/>
                <a:sym typeface="Georgia"/>
              </a:rPr>
              <a:t>~96%</a:t>
            </a:r>
            <a:endParaRPr/>
          </a:p>
        </p:txBody>
      </p:sp>
      <p:sp>
        <p:nvSpPr>
          <p:cNvPr id="208" name="Google Shape;208;p5"/>
          <p:cNvSpPr txBox="1"/>
          <p:nvPr/>
        </p:nvSpPr>
        <p:spPr>
          <a:xfrm>
            <a:off x="6217920" y="2542032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statements</a:t>
            </a:r>
            <a:endParaRPr/>
          </a:p>
        </p:txBody>
      </p:sp>
      <p:sp>
        <p:nvSpPr>
          <p:cNvPr id="209" name="Google Shape;209;p5"/>
          <p:cNvSpPr/>
          <p:nvPr/>
        </p:nvSpPr>
        <p:spPr>
          <a:xfrm>
            <a:off x="9006840" y="1783080"/>
            <a:ext cx="2606040" cy="11430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9006840" y="1874519"/>
            <a:ext cx="2606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D4AF37"/>
                </a:solidFill>
                <a:latin typeface="Georgia"/>
                <a:ea typeface="Georgia"/>
                <a:cs typeface="Georgia"/>
                <a:sym typeface="Georgia"/>
              </a:rPr>
              <a:t>~94%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9006840" y="2542032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functions</a:t>
            </a:r>
            <a:endParaRPr/>
          </a:p>
        </p:txBody>
      </p:sp>
      <p:sp>
        <p:nvSpPr>
          <p:cNvPr id="212" name="Google Shape;212;p5"/>
          <p:cNvSpPr/>
          <p:nvPr/>
        </p:nvSpPr>
        <p:spPr>
          <a:xfrm>
            <a:off x="640075" y="3200400"/>
            <a:ext cx="5486400" cy="27636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 txBox="1"/>
          <p:nvPr/>
        </p:nvSpPr>
        <p:spPr>
          <a:xfrm>
            <a:off x="868680" y="33375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Suite (30 tests)</a:t>
            </a:r>
            <a:endParaRPr/>
          </a:p>
        </p:txBody>
      </p:sp>
      <p:sp>
        <p:nvSpPr>
          <p:cNvPr id="214" name="Google Shape;214;p5"/>
          <p:cNvSpPr txBox="1"/>
          <p:nvPr/>
        </p:nvSpPr>
        <p:spPr>
          <a:xfrm>
            <a:off x="868680" y="3794760"/>
            <a:ext cx="512064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3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readingList.store  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— CRUD, duplicados, localStorage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3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openLibrary.service (unit)  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— params por tipo, Axios mock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3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SearchBar  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— render, disabled, emit, guard vacío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3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EmptyState  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— props y slot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3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openLibrary (integración)  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— funciones puras + API real</a:t>
            </a:r>
            <a:endParaRPr/>
          </a:p>
        </p:txBody>
      </p:sp>
      <p:sp>
        <p:nvSpPr>
          <p:cNvPr id="215" name="Google Shape;215;p5"/>
          <p:cNvSpPr/>
          <p:nvPr/>
        </p:nvSpPr>
        <p:spPr>
          <a:xfrm>
            <a:off x="6309350" y="3200400"/>
            <a:ext cx="5239500" cy="27636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 txBox="1"/>
          <p:nvPr/>
        </p:nvSpPr>
        <p:spPr>
          <a:xfrm>
            <a:off x="6537960" y="333756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Cobertura (v8)</a:t>
            </a:r>
            <a:endParaRPr/>
          </a:p>
        </p:txBody>
      </p:sp>
      <p:graphicFrame>
        <p:nvGraphicFramePr>
          <p:cNvPr id="217" name="Google Shape;217;p5"/>
          <p:cNvGraphicFramePr/>
          <p:nvPr/>
        </p:nvGraphicFramePr>
        <p:xfrm>
          <a:off x="6537960" y="37947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{E7E9AE42-72FA-41D6-BEB2-CC86DEEA201E}</a:tableStyleId>
              </a:tblPr>
              <a:tblGrid>
                <a:gridCol w="1691650"/>
                <a:gridCol w="777250"/>
                <a:gridCol w="777250"/>
                <a:gridCol w="777250"/>
                <a:gridCol w="777250"/>
              </a:tblGrid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210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Módulo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C896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210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Stmts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C896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210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Branch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C896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210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Funcs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C896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1210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Lines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C8962A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components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95%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100%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80%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95%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services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100%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100%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100%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100%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stores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95%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75%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100%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94%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1E1A14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Total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96%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96%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94%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cap="none" strike="noStrike">
                          <a:solidFill>
                            <a:srgbClr val="EDE0C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96%</a:t>
                      </a:r>
                      <a:endParaRPr/>
                    </a:p>
                  </a:txBody>
                  <a:tcPr marT="25400" marB="25400" marR="91450" marL="101600" anchor="ctr">
                    <a:solidFill>
                      <a:srgbClr val="2A231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ed70483d76_0_6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g3ed70483d76_0_68"/>
          <p:cNvSpPr/>
          <p:nvPr/>
        </p:nvSpPr>
        <p:spPr>
          <a:xfrm>
            <a:off x="640080" y="566928"/>
            <a:ext cx="457200" cy="507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g3ed70483d76_0_68"/>
          <p:cNvSpPr txBox="1"/>
          <p:nvPr/>
        </p:nvSpPr>
        <p:spPr>
          <a:xfrm>
            <a:off x="640080" y="658368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CALIDAD Y PRUEBAS - S</a:t>
            </a:r>
            <a:r>
              <a:rPr b="1" lang="en-US" sz="13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CREENSHOTS</a:t>
            </a:r>
            <a:endParaRPr/>
          </a:p>
        </p:txBody>
      </p:sp>
      <p:sp>
        <p:nvSpPr>
          <p:cNvPr id="225" name="Google Shape;225;g3ed70483d76_0_68"/>
          <p:cNvSpPr txBox="1"/>
          <p:nvPr/>
        </p:nvSpPr>
        <p:spPr>
          <a:xfrm>
            <a:off x="640080" y="932688"/>
            <a:ext cx="10972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Testing — Vitest</a:t>
            </a:r>
            <a:endParaRPr/>
          </a:p>
        </p:txBody>
      </p:sp>
      <p:sp>
        <p:nvSpPr>
          <p:cNvPr id="226" name="Google Shape;226;g3ed70483d76_0_68"/>
          <p:cNvSpPr txBox="1"/>
          <p:nvPr/>
        </p:nvSpPr>
        <p:spPr>
          <a:xfrm>
            <a:off x="640080" y="6419088"/>
            <a:ext cx="548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227" name="Google Shape;227;g3ed70483d76_0_68"/>
          <p:cNvSpPr txBox="1"/>
          <p:nvPr/>
        </p:nvSpPr>
        <p:spPr>
          <a:xfrm>
            <a:off x="10424160" y="6419088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09</a:t>
            </a:r>
            <a:endParaRPr/>
          </a:p>
        </p:txBody>
      </p:sp>
      <p:pic>
        <p:nvPicPr>
          <p:cNvPr id="228" name="Google Shape;228;g3ed70483d76_0_68" title="testfinal1.png"/>
          <p:cNvPicPr preferRelativeResize="0"/>
          <p:nvPr/>
        </p:nvPicPr>
        <p:blipFill rotWithShape="1">
          <a:blip r:embed="rId3">
            <a:alphaModFix/>
          </a:blip>
          <a:srcRect b="0" l="0" r="4132" t="0"/>
          <a:stretch/>
        </p:blipFill>
        <p:spPr>
          <a:xfrm>
            <a:off x="640075" y="1024075"/>
            <a:ext cx="10972799" cy="52471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ed70483d76_0_9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g3ed70483d76_0_95"/>
          <p:cNvSpPr/>
          <p:nvPr/>
        </p:nvSpPr>
        <p:spPr>
          <a:xfrm>
            <a:off x="640080" y="566928"/>
            <a:ext cx="457200" cy="507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ed70483d76_0_95"/>
          <p:cNvSpPr txBox="1"/>
          <p:nvPr/>
        </p:nvSpPr>
        <p:spPr>
          <a:xfrm>
            <a:off x="640080" y="658368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CALIDAD Y PRUEBAS - </a:t>
            </a:r>
            <a:r>
              <a:rPr b="1" lang="en-US" sz="13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SCREENSHOTS</a:t>
            </a:r>
            <a:endParaRPr/>
          </a:p>
        </p:txBody>
      </p:sp>
      <p:sp>
        <p:nvSpPr>
          <p:cNvPr id="236" name="Google Shape;236;g3ed70483d76_0_95"/>
          <p:cNvSpPr txBox="1"/>
          <p:nvPr/>
        </p:nvSpPr>
        <p:spPr>
          <a:xfrm>
            <a:off x="640080" y="6419088"/>
            <a:ext cx="548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237" name="Google Shape;237;g3ed70483d76_0_95"/>
          <p:cNvSpPr txBox="1"/>
          <p:nvPr/>
        </p:nvSpPr>
        <p:spPr>
          <a:xfrm>
            <a:off x="10424160" y="6419088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pic>
        <p:nvPicPr>
          <p:cNvPr id="238" name="Google Shape;238;g3ed70483d76_0_95" title="testfinal2.png"/>
          <p:cNvPicPr preferRelativeResize="0"/>
          <p:nvPr/>
        </p:nvPicPr>
        <p:blipFill rotWithShape="1">
          <a:blip r:embed="rId3">
            <a:alphaModFix/>
          </a:blip>
          <a:srcRect b="0" l="0" r="19543" t="0"/>
          <a:stretch/>
        </p:blipFill>
        <p:spPr>
          <a:xfrm>
            <a:off x="1066650" y="1045512"/>
            <a:ext cx="10058401" cy="4945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ed70483d76_0_12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g3ed70483d76_0_123"/>
          <p:cNvSpPr/>
          <p:nvPr/>
        </p:nvSpPr>
        <p:spPr>
          <a:xfrm>
            <a:off x="640080" y="566928"/>
            <a:ext cx="457200" cy="507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g3ed70483d76_0_123"/>
          <p:cNvSpPr txBox="1"/>
          <p:nvPr/>
        </p:nvSpPr>
        <p:spPr>
          <a:xfrm>
            <a:off x="640080" y="658368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CALIDAD Y PRUEBAS - </a:t>
            </a:r>
            <a:r>
              <a:rPr b="1" lang="en-US" sz="13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SCREENSHOTS</a:t>
            </a:r>
            <a:endParaRPr/>
          </a:p>
        </p:txBody>
      </p:sp>
      <p:sp>
        <p:nvSpPr>
          <p:cNvPr id="246" name="Google Shape;246;g3ed70483d76_0_123"/>
          <p:cNvSpPr txBox="1"/>
          <p:nvPr/>
        </p:nvSpPr>
        <p:spPr>
          <a:xfrm>
            <a:off x="640080" y="6419088"/>
            <a:ext cx="548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247" name="Google Shape;247;g3ed70483d76_0_123"/>
          <p:cNvSpPr txBox="1"/>
          <p:nvPr/>
        </p:nvSpPr>
        <p:spPr>
          <a:xfrm>
            <a:off x="10424160" y="6419088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pic>
        <p:nvPicPr>
          <p:cNvPr id="248" name="Google Shape;248;g3ed70483d76_0_123" title="testfinal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6313" y="2372362"/>
            <a:ext cx="11159074" cy="2113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6"/>
          <p:cNvSpPr/>
          <p:nvPr/>
        </p:nvSpPr>
        <p:spPr>
          <a:xfrm>
            <a:off x="640080" y="566928"/>
            <a:ext cx="457200" cy="508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6"/>
          <p:cNvSpPr txBox="1"/>
          <p:nvPr/>
        </p:nvSpPr>
        <p:spPr>
          <a:xfrm>
            <a:off x="640080" y="65836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RENDIMIENTO</a:t>
            </a:r>
            <a:endParaRPr/>
          </a:p>
        </p:txBody>
      </p:sp>
      <p:sp>
        <p:nvSpPr>
          <p:cNvPr id="256" name="Google Shape;256;p6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Performance — optimización</a:t>
            </a:r>
            <a:endParaRPr/>
          </a:p>
        </p:txBody>
      </p:sp>
      <p:sp>
        <p:nvSpPr>
          <p:cNvPr id="257" name="Google Shape;257;p6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258" name="Google Shape;258;p6"/>
          <p:cNvSpPr txBox="1"/>
          <p:nvPr/>
        </p:nvSpPr>
        <p:spPr>
          <a:xfrm>
            <a:off x="10424160" y="6419088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59" name="Google Shape;259;p6"/>
          <p:cNvSpPr/>
          <p:nvPr/>
        </p:nvSpPr>
        <p:spPr>
          <a:xfrm>
            <a:off x="640080" y="1783080"/>
            <a:ext cx="5852160" cy="370332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6"/>
          <p:cNvSpPr txBox="1"/>
          <p:nvPr/>
        </p:nvSpPr>
        <p:spPr>
          <a:xfrm>
            <a:off x="868680" y="192024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Optimizaciones aplicadas</a:t>
            </a:r>
            <a:endParaRPr/>
          </a:p>
        </p:txBody>
      </p:sp>
      <p:sp>
        <p:nvSpPr>
          <p:cNvPr id="261" name="Google Shape;261;p6"/>
          <p:cNvSpPr txBox="1"/>
          <p:nvPr/>
        </p:nvSpPr>
        <p:spPr>
          <a:xfrm>
            <a:off x="868680" y="2423160"/>
            <a:ext cx="548640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Imagen LCP en WebP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preload del hero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preconnect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OpenLibrary, covers y CDN de íconos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Fuente MDI async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media=print → onload (no bloquea render)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SEO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meta description, lang=es, title descriptivo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Build con Vite  </a:t>
            </a:r>
            <a:r>
              <a:rPr b="0" i="0" lang="en-US" sz="14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tree-shaking + autoImport de Vuetify</a:t>
            </a:r>
            <a:endParaRPr/>
          </a:p>
        </p:txBody>
      </p:sp>
      <p:sp>
        <p:nvSpPr>
          <p:cNvPr id="262" name="Google Shape;262;p6"/>
          <p:cNvSpPr/>
          <p:nvPr/>
        </p:nvSpPr>
        <p:spPr>
          <a:xfrm>
            <a:off x="6720840" y="1783080"/>
            <a:ext cx="4828032" cy="370332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6"/>
          <p:cNvSpPr txBox="1"/>
          <p:nvPr/>
        </p:nvSpPr>
        <p:spPr>
          <a:xfrm>
            <a:off x="6949440" y="1920240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Lighthouse</a:t>
            </a:r>
            <a:endParaRPr/>
          </a:p>
        </p:txBody>
      </p:sp>
      <p:sp>
        <p:nvSpPr>
          <p:cNvPr id="264" name="Google Shape;264;p6"/>
          <p:cNvSpPr txBox="1"/>
          <p:nvPr/>
        </p:nvSpPr>
        <p:spPr>
          <a:xfrm>
            <a:off x="6949440" y="246888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</a:t>
            </a:r>
            <a:endParaRPr/>
          </a:p>
        </p:txBody>
      </p:sp>
      <p:sp>
        <p:nvSpPr>
          <p:cNvPr id="265" name="Google Shape;265;p6"/>
          <p:cNvSpPr txBox="1"/>
          <p:nvPr/>
        </p:nvSpPr>
        <p:spPr>
          <a:xfrm>
            <a:off x="9875520" y="246888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97</a:t>
            </a:r>
            <a:endParaRPr/>
          </a:p>
        </p:txBody>
      </p:sp>
      <p:sp>
        <p:nvSpPr>
          <p:cNvPr id="266" name="Google Shape;266;p6"/>
          <p:cNvSpPr txBox="1"/>
          <p:nvPr/>
        </p:nvSpPr>
        <p:spPr>
          <a:xfrm>
            <a:off x="6949440" y="3127248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Accessibility</a:t>
            </a:r>
            <a:endParaRPr/>
          </a:p>
        </p:txBody>
      </p:sp>
      <p:sp>
        <p:nvSpPr>
          <p:cNvPr id="267" name="Google Shape;267;p6"/>
          <p:cNvSpPr txBox="1"/>
          <p:nvPr/>
        </p:nvSpPr>
        <p:spPr>
          <a:xfrm>
            <a:off x="9875520" y="3127248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94</a:t>
            </a:r>
            <a:endParaRPr/>
          </a:p>
        </p:txBody>
      </p:sp>
      <p:sp>
        <p:nvSpPr>
          <p:cNvPr id="268" name="Google Shape;268;p6"/>
          <p:cNvSpPr txBox="1"/>
          <p:nvPr/>
        </p:nvSpPr>
        <p:spPr>
          <a:xfrm>
            <a:off x="6949440" y="3785616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Best Practices</a:t>
            </a:r>
            <a:endParaRPr/>
          </a:p>
        </p:txBody>
      </p:sp>
      <p:sp>
        <p:nvSpPr>
          <p:cNvPr id="269" name="Google Shape;269;p6"/>
          <p:cNvSpPr txBox="1"/>
          <p:nvPr/>
        </p:nvSpPr>
        <p:spPr>
          <a:xfrm>
            <a:off x="9875520" y="3785616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100</a:t>
            </a:r>
            <a:endParaRPr/>
          </a:p>
        </p:txBody>
      </p:sp>
      <p:sp>
        <p:nvSpPr>
          <p:cNvPr id="270" name="Google Shape;270;p6"/>
          <p:cNvSpPr txBox="1"/>
          <p:nvPr/>
        </p:nvSpPr>
        <p:spPr>
          <a:xfrm>
            <a:off x="6949440" y="4443984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SEO</a:t>
            </a:r>
            <a:endParaRPr/>
          </a:p>
        </p:txBody>
      </p:sp>
      <p:sp>
        <p:nvSpPr>
          <p:cNvPr id="271" name="Google Shape;271;p6"/>
          <p:cNvSpPr txBox="1"/>
          <p:nvPr/>
        </p:nvSpPr>
        <p:spPr>
          <a:xfrm>
            <a:off x="9875520" y="4443984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100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640080" y="660076"/>
            <a:ext cx="457200" cy="507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 txBox="1"/>
          <p:nvPr/>
        </p:nvSpPr>
        <p:spPr>
          <a:xfrm>
            <a:off x="640080" y="751516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RECURSOS</a:t>
            </a:r>
            <a:endParaRPr/>
          </a:p>
        </p:txBody>
      </p:sp>
      <p:sp>
        <p:nvSpPr>
          <p:cNvPr id="279" name="Google Shape;279;p7"/>
          <p:cNvSpPr txBox="1"/>
          <p:nvPr/>
        </p:nvSpPr>
        <p:spPr>
          <a:xfrm>
            <a:off x="640080" y="1025836"/>
            <a:ext cx="10972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Enlaces</a:t>
            </a:r>
            <a:endParaRPr/>
          </a:p>
        </p:txBody>
      </p:sp>
      <p:sp>
        <p:nvSpPr>
          <p:cNvPr id="280" name="Google Shape;280;p7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281" name="Google Shape;281;p7"/>
          <p:cNvSpPr txBox="1"/>
          <p:nvPr/>
        </p:nvSpPr>
        <p:spPr>
          <a:xfrm>
            <a:off x="10424160" y="6419088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640080" y="2071605"/>
            <a:ext cx="10908900" cy="10974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640080" y="2071605"/>
            <a:ext cx="63600" cy="10974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7"/>
          <p:cNvSpPr txBox="1"/>
          <p:nvPr/>
        </p:nvSpPr>
        <p:spPr>
          <a:xfrm>
            <a:off x="960120" y="2217909"/>
            <a:ext cx="10058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Repositorio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  Código fuente, README y mockups</a:t>
            </a:r>
            <a:endParaRPr/>
          </a:p>
        </p:txBody>
      </p:sp>
      <p:sp>
        <p:nvSpPr>
          <p:cNvPr id="285" name="Google Shape;285;p7"/>
          <p:cNvSpPr txBox="1"/>
          <p:nvPr/>
        </p:nvSpPr>
        <p:spPr>
          <a:xfrm>
            <a:off x="960120" y="2638533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D4AF3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https://github.com/Daniel-Panzera/buscador-de-libros-RIA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40080" y="3795241"/>
            <a:ext cx="10908900" cy="1097400"/>
          </a:xfrm>
          <a:prstGeom prst="roundRect">
            <a:avLst>
              <a:gd fmla="val 16667" name="adj"/>
            </a:avLst>
          </a:prstGeom>
          <a:solidFill>
            <a:srgbClr val="1E1A1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40080" y="3795241"/>
            <a:ext cx="63600" cy="10974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7"/>
          <p:cNvSpPr txBox="1"/>
          <p:nvPr/>
        </p:nvSpPr>
        <p:spPr>
          <a:xfrm>
            <a:off x="960120" y="3941545"/>
            <a:ext cx="10058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Video </a:t>
            </a:r>
            <a:r>
              <a:rPr b="1" lang="en-US" sz="1800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demostrativo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  </a:t>
            </a:r>
            <a:r>
              <a:rPr lang="en-US" sz="1300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Demostración del uso de la página</a:t>
            </a:r>
            <a:r>
              <a:rPr b="0" i="0" lang="en-US" sz="13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</a:t>
            </a:r>
            <a:endParaRPr/>
          </a:p>
        </p:txBody>
      </p:sp>
      <p:sp>
        <p:nvSpPr>
          <p:cNvPr id="289" name="Google Shape;289;p7"/>
          <p:cNvSpPr txBox="1"/>
          <p:nvPr/>
        </p:nvSpPr>
        <p:spPr>
          <a:xfrm>
            <a:off x="960120" y="4362169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u="sng">
                <a:solidFill>
                  <a:schemeClr val="hlink"/>
                </a:solidFill>
                <a:latin typeface="Quattrocento Sans"/>
                <a:ea typeface="Quattrocento Sans"/>
                <a:cs typeface="Quattrocento Sans"/>
                <a:sym typeface="Quattrocento Sans"/>
                <a:hlinkClick r:id="rId3"/>
              </a:rPr>
              <a:t>https://www.youtube.com/watch?v=_8m3_gngdok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640080" y="566928"/>
            <a:ext cx="457200" cy="50800"/>
          </a:xfrm>
          <a:prstGeom prst="rect">
            <a:avLst/>
          </a:prstGeom>
          <a:solidFill>
            <a:srgbClr val="C89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 txBox="1"/>
          <p:nvPr/>
        </p:nvSpPr>
        <p:spPr>
          <a:xfrm>
            <a:off x="640080" y="658368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CIERRE</a:t>
            </a:r>
            <a:endParaRPr/>
          </a:p>
        </p:txBody>
      </p:sp>
      <p:sp>
        <p:nvSpPr>
          <p:cNvPr id="297" name="Google Shape;297;p8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EDE0CA"/>
                </a:solidFill>
                <a:latin typeface="Georgia"/>
                <a:ea typeface="Georgia"/>
                <a:cs typeface="Georgia"/>
                <a:sym typeface="Georgia"/>
              </a:rPr>
              <a:t>Conclusiones</a:t>
            </a:r>
            <a:endParaRPr/>
          </a:p>
        </p:txBody>
      </p:sp>
      <p:sp>
        <p:nvSpPr>
          <p:cNvPr id="298" name="Google Shape;298;p8"/>
          <p:cNvSpPr txBox="1"/>
          <p:nvPr/>
        </p:nvSpPr>
        <p:spPr>
          <a:xfrm>
            <a:off x="640080" y="641908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BookFinder · OpenLibrary</a:t>
            </a:r>
            <a:endParaRPr/>
          </a:p>
        </p:txBody>
      </p:sp>
      <p:sp>
        <p:nvSpPr>
          <p:cNvPr id="299" name="Google Shape;299;p8"/>
          <p:cNvSpPr txBox="1"/>
          <p:nvPr/>
        </p:nvSpPr>
        <p:spPr>
          <a:xfrm>
            <a:off x="10424160" y="6419088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0" name="Google Shape;300;p8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6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SPA completa sin backend propio  </a:t>
            </a:r>
            <a:r>
              <a:rPr b="0" i="0" lang="en-US" sz="16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OpenLibrary + localStorage cubren búsqueda, detalle y lista de lectura.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6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Arquitectura desacoplada  </a:t>
            </a:r>
            <a:r>
              <a:rPr b="0" i="0" lang="en-US" sz="16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vistas, componentes, stores (Pinia) y servicio HTTP con responsabilidades claras.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6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Tipado estricto  </a:t>
            </a:r>
            <a:r>
              <a:rPr b="0" i="0" lang="en-US" sz="16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TypeScript con noUnused* y tipos de dominio (BookDoc, WorkDetail, …).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6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Calidad verificada  </a:t>
            </a:r>
            <a:r>
              <a:rPr b="0" i="0" lang="en-US" sz="16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30 tests (unit + integración) y cobertura ~96%.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</a:t>
            </a:r>
            <a:r>
              <a:rPr b="1" i="0" lang="en-US" sz="16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cuidada  </a:t>
            </a:r>
            <a:r>
              <a:rPr b="0" i="0" lang="en-US" sz="1600" u="none" cap="none" strike="noStrike">
                <a:solidFill>
                  <a:srgbClr val="B0A08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WebP, preload, preconnect y carga async de assets.</a:t>
            </a:r>
            <a:endParaRPr/>
          </a:p>
        </p:txBody>
      </p:sp>
      <p:sp>
        <p:nvSpPr>
          <p:cNvPr id="301" name="Google Shape;301;p8"/>
          <p:cNvSpPr/>
          <p:nvPr/>
        </p:nvSpPr>
        <p:spPr>
          <a:xfrm>
            <a:off x="640080" y="5532120"/>
            <a:ext cx="10908792" cy="685800"/>
          </a:xfrm>
          <a:prstGeom prst="roundRect">
            <a:avLst>
              <a:gd fmla="val 16667" name="adj"/>
            </a:avLst>
          </a:prstGeom>
          <a:solidFill>
            <a:srgbClr val="2A231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 txBox="1"/>
          <p:nvPr/>
        </p:nvSpPr>
        <p:spPr>
          <a:xfrm>
            <a:off x="640080" y="5532120"/>
            <a:ext cx="10908792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8962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Próximos pasos: </a:t>
            </a:r>
            <a:r>
              <a:rPr b="0" i="0" lang="en-US" sz="1300" u="none" cap="none" strike="noStrike">
                <a:solidFill>
                  <a:srgbClr val="EDE0C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filtros avanzados · paginación infinita · favoritos sincronizados · PWA offline.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